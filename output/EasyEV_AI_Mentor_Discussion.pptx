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1cd85b54854dfc" /><Relationship Type="http://schemas.openxmlformats.org/officeDocument/2006/relationships/extended-properties" Target="/docProps/app.xml" Id="R413ecc940b5943ca" /><Relationship Type="http://schemas.openxmlformats.org/officeDocument/2006/relationships/officeDocument" Target="/ppt/presentation.xml" Id="R3624b8fefb324e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979a2508414f5b"/>
  </p:sldMasterIdLst>
  <p:notesMasterIdLst>
    <p:notesMasterId xmlns:r="http://schemas.openxmlformats.org/officeDocument/2006/relationships" r:id="Rd25c99ed6e56436f"/>
  </p:notesMasterIdLst>
  <p:sldIdLst>
    <p:sldId xmlns:r="http://schemas.openxmlformats.org/officeDocument/2006/relationships" id="256" r:id="R1607223eb0de4316"/>
    <p:sldId xmlns:r="http://schemas.openxmlformats.org/officeDocument/2006/relationships" id="257" r:id="R6ff9e10292f34502"/>
    <p:sldId xmlns:r="http://schemas.openxmlformats.org/officeDocument/2006/relationships" id="258" r:id="Rb68fff7e5cb84c9c"/>
    <p:sldId xmlns:r="http://schemas.openxmlformats.org/officeDocument/2006/relationships" id="259" r:id="R0233ea83d84c4850"/>
    <p:sldId xmlns:r="http://schemas.openxmlformats.org/officeDocument/2006/relationships" id="260" r:id="Re41d28b149c24d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41e7b07274e99" /><Relationship Type="http://schemas.openxmlformats.org/officeDocument/2006/relationships/slideMaster" Target="/ppt/slideMasters/slideMaster1.xml" Id="Rda979a2508414f5b" /><Relationship Type="http://schemas.openxmlformats.org/officeDocument/2006/relationships/notesMaster" Target="/ppt/notesMasters/notesMaster1.xml" Id="Rd25c99ed6e56436f" /><Relationship Type="http://schemas.openxmlformats.org/officeDocument/2006/relationships/presProps" Target="/ppt/presProps.xml" Id="Rb174e3a572784585" /><Relationship Type="http://schemas.openxmlformats.org/officeDocument/2006/relationships/tableStyles" Target="/ppt/tableStyles.xml" Id="Reedba3d502c34bdc" /><Relationship Type="http://schemas.openxmlformats.org/officeDocument/2006/relationships/slide" Target="/ppt/slides/slide1.xml" Id="R1607223eb0de4316" /><Relationship Type="http://schemas.openxmlformats.org/officeDocument/2006/relationships/slide" Target="/ppt/slides/slide2.xml" Id="R6ff9e10292f34502" /><Relationship Type="http://schemas.openxmlformats.org/officeDocument/2006/relationships/slide" Target="/ppt/slides/slide3.xml" Id="Rb68fff7e5cb84c9c" /><Relationship Type="http://schemas.openxmlformats.org/officeDocument/2006/relationships/slide" Target="/ppt/slides/slide4.xml" Id="R0233ea83d84c4850" /><Relationship Type="http://schemas.openxmlformats.org/officeDocument/2006/relationships/slide" Target="/ppt/slides/slide5.xml" Id="Re41d28b149c24d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9bec7d91d646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a886b242c040fe" /><Relationship Type="http://schemas.openxmlformats.org/officeDocument/2006/relationships/notesMaster" Target="/ppt/notesMasters/notesMaster1.xml" Id="Rb1a9ed8610ce4a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abe333c59b4160" /><Relationship Type="http://schemas.openxmlformats.org/officeDocument/2006/relationships/notesMaster" Target="/ppt/notesMasters/notesMaster1.xml" Id="R2f095c56612647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03dc933c704e97" /><Relationship Type="http://schemas.openxmlformats.org/officeDocument/2006/relationships/notesMaster" Target="/ppt/notesMasters/notesMaster1.xml" Id="R3cac28580223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18eb56f41b45fb" /><Relationship Type="http://schemas.openxmlformats.org/officeDocument/2006/relationships/notesMaster" Target="/ppt/notesMasters/notesMaster1.xml" Id="R6b16dec9663a4a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8c6e3c24724463" /><Relationship Type="http://schemas.openxmlformats.org/officeDocument/2006/relationships/notesMaster" Target="/ppt/notesMasters/notesMaster1.xml" Id="Rb699f40e75e8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positioning: EasyEV AI is buyer education and decision confidence first, with a measurable sales outcome. Ask Kamal Walia to challenge the technical scope and proof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https://www.commudle.com/communities/knotic/hackathons/echosphere/tracks</a:t>
            </a:r>
          </a:p>
          <a:p xmlns:a="http://schemas.openxmlformats.org/drawingml/2006/main">
            <a:r>
              <a:t>- https://www.commudle.com/users/KamalWalia</a:t>
            </a:r>
          </a:p>
          <a:p xmlns:a="http://schemas.openxmlformats.org/drawingml/2006/main">
            <a:r>
              <a:t>- S:/Current projects/Agora Ecosphere Hackathon/PPT.pdf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impact pitch is explainability and education; the commercial pitch is qualification and conversion. The prototype will cover a representative EV catalog, not every vehicle in India.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https://www.commudle.com/communities/knotic/hackathons/echosphere/tracks</a:t>
            </a:r>
          </a:p>
          <a:p xmlns:a="http://schemas.openxmlformats.org/drawingml/2006/main">
            <a:r>
              <a:t>- https://www.iea.org/reports/global-ev-outlook-2026/trends-in-other-ev-modes</a:t>
            </a:r>
          </a:p>
          <a:p xmlns:a="http://schemas.openxmlformats.org/drawingml/2006/main">
            <a:r>
              <a:t>- https://niti.gov.in/sites/default/files/2023-07/ADB-EV-Financing-Report_VS_compressed.pdf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Agora owns the live session. EasyEV owns the domain decision logic and business workflow. The default architecture is ASR → LLM → MCP tools → TTS because it makes retrieval, metrics, and guardrails judge-visible.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https://docs.agora.io/en/ai/get-started/quickstart</a:t>
            </a:r>
          </a:p>
          <a:p xmlns:a="http://schemas.openxmlformats.org/drawingml/2006/main">
            <a:r>
              <a:t>- https://docs.agora.io/en/ai/build/shape-the-conversation/interrupt-agent</a:t>
            </a:r>
          </a:p>
          <a:p xmlns:a="http://schemas.openxmlformats.org/drawingml/2006/main">
            <a:r>
              <a:t>- https://docs.agora.io/en/ai/build/shape-the-conversation/short-term-memory</a:t>
            </a:r>
          </a:p>
          <a:p xmlns:a="http://schemas.openxmlformats.org/drawingml/2006/main">
            <a:r>
              <a:t>- https://docs.agora.io/en/ai/build/transcripts</a:t>
            </a:r>
          </a:p>
          <a:p xmlns:a="http://schemas.openxmlformats.org/drawingml/2006/main">
            <a:r>
              <a:t>- https://docs.agora.io/en/ai/models/asr/sarvam</a:t>
            </a:r>
          </a:p>
          <a:p xmlns:a="http://schemas.openxmlformats.org/drawingml/2006/main">
            <a:r>
              <a:t>- https://docs.agora.io/en/ai/models/tts/sarvam</a:t>
            </a:r>
          </a:p>
          <a:p xmlns:a="http://schemas.openxmlformats.org/drawingml/2006/main">
            <a:r>
              <a:t>- https://github.com/AgoraIO-Conversational-AI/recipe-agent-rpg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product is in planned implementation, not already complete. Use the mentor discussion to validate scope and choose the deepest Agora proof before parallel build work expands.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S:/Current projects/Agora Ecosphere Hackathon/PPT.pdf</a:t>
            </a:r>
          </a:p>
          <a:p xmlns:a="http://schemas.openxmlformats.org/drawingml/2006/main">
            <a:r>
              <a:t>- https://docs.agora.io/en/ai/get-started/quickstart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split keeps ownership clear without isolating components. Everyone joins at the three checkpoints: live audio, end-to-end outcome, and final rehearsal. Adjust names or ownership during the mentor discussion if member strengths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S:/Current projects/Agora Ecosphere Hackathon/PPT.pdf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6029f4102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297291982f48ec" /><Relationship Type="http://schemas.openxmlformats.org/officeDocument/2006/relationships/slideLayout" Target="/ppt/slideLayouts/slideLayout1.xml" Id="Rdf7f746c661046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7f746c661046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6bc7483bc474f" /><Relationship Type="http://schemas.openxmlformats.org/officeDocument/2006/relationships/notesSlide" Target="/ppt/notesSlides/notesSlide1.xml" Id="R9e67e4e8bdb7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ef360ac334f0e" /><Relationship Type="http://schemas.openxmlformats.org/officeDocument/2006/relationships/notesSlide" Target="/ppt/notesSlides/notesSlide2.xml" Id="Rf3ec64466ebb48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29d6b495942f6" /><Relationship Type="http://schemas.openxmlformats.org/officeDocument/2006/relationships/notesSlide" Target="/ppt/notesSlides/notesSlide3.xml" Id="R11a546b4c0674b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7dc6e5a6c488e" /><Relationship Type="http://schemas.openxmlformats.org/officeDocument/2006/relationships/notesSlide" Target="/ppt/notesSlides/notesSlide4.xml" Id="Ra2cba1b6d6ad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5c19d03614564" /><Relationship Type="http://schemas.openxmlformats.org/officeDocument/2006/relationships/notesSlide" Target="/ppt/notesSlides/notesSlide5.xml" Id="R4410d6c846fa4f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884C7-B421-429E-AF21-8772D6EC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F"/>
          </a:solidFill>
          <a:ln xmlns:a="http://schemas.openxmlformats.org/drawingml/2006/main" w="0">
            <a:solidFill>
              <a:srgbClr val="F4F4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7C167-B8AA-4E5C-B8FF-3DFC7DBE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rPr>
              <a:t>agora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81CE0-B985-4AA1-A569-AD71C16B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A2FF0-AF71-45A9-B273-32D647B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D7D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50E52-75A5-41A9-8C1E-446360B5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628775"/>
            <a:ext cx="1943100" cy="194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F"/>
          </a:solidFill>
          <a:ln xmlns:a="http://schemas.openxmlformats.org/drawingml/2006/main" w="0">
            <a:solidFill>
              <a:srgbClr val="E5F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82826-FE15-4FA2-AB4E-AC6205FE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8600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FF"/>
          </a:solidFill>
          <a:ln xmlns:a="http://schemas.openxmlformats.org/drawingml/2006/main" w="0">
            <a:solidFill>
              <a:srgbClr val="FD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4903F-F40D-4E68-8874-B0063942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0000">
            <a:off x="8296275" y="2028825"/>
            <a:ext cx="2228850" cy="1228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1B070-542A-47A5-B94F-BCAFF6F6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3143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EE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274D2-B0C6-4FF3-98C0-9B1EF9A4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001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6BFF"/>
                </a:solidFill>
                <a:latin typeface="Aptos"/>
                <a:ea typeface="Aptos"/>
                <a:cs typeface="Aptos"/>
              </a:rPr>
              <a:t>ADAPTIVE AI SALES + NEGOTIATION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0C5F9-C0F7-4E59-AECD-4787BDE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EasyEV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3F3D9-E1B2-433A-9F01-F8CCC1A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An EV sales negotiator and education voice agent for India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9109B-D33D-4238-974B-CEE22EE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619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B66EC-0757-4F21-946E-62462CCF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9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TEAM CODEHACKERS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6A091-95E9-4DFA-A017-33D18D36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Shivam  ·  Jatin  ·  Sathvik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01EAD-CE8C-4E31-B994-BBD1F1B7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Mentor discussion with Kamal Walia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B5F4D-0AC5-4C00-B502-1C3DF3C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76975"/>
            <a:ext cx="69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Echo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FD1EA-BFDE-43A3-9940-C8D4F72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Sphere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C4C1B-5CAB-4FFD-9958-D13067A3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912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POWERED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1AB53-1DFD-4A06-9FD4-B74430B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531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KNOTIC</a:t>
            </a:r>
          </a:p>
        </p:txBody>
      </p:sp>
    </p:spTree>
    <p:extLst>
      <p:ext uri="{BB962C8B-B14F-4D97-AF65-F5344CB8AC3E}">
        <p14:creationId xmlns:p14="http://schemas.microsoft.com/office/powerpoint/2010/main" val="1785882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7122EC-ADC0-433E-912C-E1BA6EB7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F"/>
          </a:solidFill>
          <a:ln xmlns:a="http://schemas.openxmlformats.org/drawingml/2006/main" w="0">
            <a:solidFill>
              <a:srgbClr val="F4F4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6A115-D0C6-4325-9B28-534C9D08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55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D7D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FF768-2DD0-4C9F-8E46-21421835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523" y="710565"/>
            <a:ext cx="680085" cy="680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F"/>
          </a:solidFill>
          <a:ln xmlns:a="http://schemas.openxmlformats.org/drawingml/2006/main" w="0">
            <a:solidFill>
              <a:srgbClr val="E5F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0BBA7-1F2D-4634-9C4D-79A7A782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553" y="940594"/>
            <a:ext cx="440055" cy="440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FF"/>
          </a:solidFill>
          <a:ln xmlns:a="http://schemas.openxmlformats.org/drawingml/2006/main" w="0">
            <a:solidFill>
              <a:srgbClr val="FD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2A8E0-5156-4E7C-8935-F2BC76E1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0000">
            <a:off x="10597515" y="850583"/>
            <a:ext cx="780098" cy="4300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6763C-AABA-46C3-8F98-30A03E57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rPr>
              <a:t>agora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966A8-2AF9-47D6-92D3-E6518A2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71681-3DA7-4A10-842B-C908FF04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PROBLEM + IDEA + 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363C1-961B-44CC-B3BE-975F82AB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EV adoption is a decision-confidence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F6067-2D4B-4E6F-88A0-6E8D9C44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Availability is improving; understanding real-life fit is still fragmented.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9ACCB-B5C9-4A2C-9E06-9DE5F7F3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495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96D81-3B64-4B5D-AC83-EC69EF95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0D6B8-24AC-4F27-B3A6-3CBDB97B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24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2080E-BB09-4A62-A689-AF525C3E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71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Scattered 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71F81-3429-4808-9B84-E4604902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Range, charging, service, financing and incentives live in different places.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77DDD-8994-4269-83A0-CD07ABC7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495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7F7CF-2806-42B0-8D50-E25B76AB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3F13C-E2B1-4DBE-BEED-B4348E1F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04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92970-346E-4A45-A09A-1E526F9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48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Hard to judge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41C23-66EB-4B73-9635-B01A0D57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86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A buyer cannot easily translate specs into commute, payload, EMI and charging reality.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4D833-8D45-4BDA-AAD9-6194FF2F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495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E2E23-79A2-404C-A148-126B62DF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1D3A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FE5E0-B648-409B-9B36-428322BB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767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7A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7A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198B1-F1DC-452C-A2E2-652612BA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24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Low-trust selling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80E9C-7169-44BB-868F-C64BB72C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62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Generic claims create objections instead of a transparent path to a decision.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16E16-B2AE-476C-91CC-C99FAB29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47900"/>
            <a:ext cx="552450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43D059-3D29-4846-A609-CF625CAC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EASYEV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6D6C9B-1A09-4E9B-91F6-1069FC88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Explain → compare → simulate → negotiate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77F1BD-1332-4C83-9DB5-7B83341A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Multilingual voice guidance across scooters, motorcycles, cars, e-rickshaws and small fleets—ending in one verified next action.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63D0E-9E3D-41DD-8939-43E7389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B79986-9C7B-4512-B89D-DA477F80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CONFUSION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70A995-ABF8-4978-903F-4CBAC7E4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642760-96AC-402B-B87A-7D7C535E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053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LIVE VOICE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86AD87-4F2C-44C6-80F3-A61319FD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0050"/>
            <a:ext cx="1581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B4E7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28E89-FCED-4884-AB29-CB0BA683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A6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A673"/>
                </a:solidFill>
                <a:latin typeface="Aptos"/>
                <a:ea typeface="Aptos"/>
                <a:cs typeface="Aptos"/>
              </a:rPr>
              <a:t>VERIFIED ACTION</a:t>
            </a:r>
          </a:p>
        </p:txBody>
      </p:sp>
      <p:cxnSp>
        <p:nvCxnSpPr>
          <p:cNvPr id="82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067550" y="43815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BFF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572500" y="43815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BFF"/>
            </a:solidFill>
            <a:prstDash val="solid"/>
            <a:tailEnd type="arrow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206FFC-84DF-4D9F-8C60-4AB90998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3632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7143D"/>
          </a:solidFill>
          <a:ln xmlns:a="http://schemas.openxmlformats.org/drawingml/2006/main" w="9525">
            <a:solidFill>
              <a:srgbClr val="0714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8004D2-8D45-45E3-B4A3-C6D1210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482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C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C8FF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3E4B2D-C8EF-4CCD-8962-048297A6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101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Confident buyers + explainable choices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95D02B-0F91-45D6-BEB8-43ABF660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C0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C067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F07378-A36B-4BDA-94F3-EB35382E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01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Qualified leads + higher-conviction next actions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C9F396-3D1D-4493-8AFB-312D55FB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76975"/>
            <a:ext cx="69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Echo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3406B3-654C-4616-A5A0-1088DAB4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Sphere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BF83C7-F973-4212-B9C6-96DEB00A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912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POWERED BY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7F0116-6BAD-42D1-A627-EB6C677E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531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KNOTIC</a:t>
            </a:r>
          </a:p>
        </p:txBody>
      </p:sp>
    </p:spTree>
    <p:extLst>
      <p:ext uri="{BB962C8B-B14F-4D97-AF65-F5344CB8AC3E}">
        <p14:creationId xmlns:p14="http://schemas.microsoft.com/office/powerpoint/2010/main" val="1346978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9589E4-8ECE-4D51-B923-4BBADCEC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F"/>
          </a:solidFill>
          <a:ln xmlns:a="http://schemas.openxmlformats.org/drawingml/2006/main" w="0">
            <a:solidFill>
              <a:srgbClr val="F4F4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77F26-9787-4A0B-82F4-48FF0451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55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D7D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797E0-5CE7-4576-AFE6-FA9B04D4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523" y="710565"/>
            <a:ext cx="680085" cy="680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F"/>
          </a:solidFill>
          <a:ln xmlns:a="http://schemas.openxmlformats.org/drawingml/2006/main" w="0">
            <a:solidFill>
              <a:srgbClr val="E5F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A57AF-E0B6-44DC-9012-FCBA460E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553" y="940594"/>
            <a:ext cx="440055" cy="440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FF"/>
          </a:solidFill>
          <a:ln xmlns:a="http://schemas.openxmlformats.org/drawingml/2006/main" w="0">
            <a:solidFill>
              <a:srgbClr val="FD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DE9F6-C713-4136-88E2-E5CF0C1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0000">
            <a:off x="10597515" y="850583"/>
            <a:ext cx="780098" cy="4300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05DFC-6351-4ACC-B7CA-5E98DC4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rPr>
              <a:t>agora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5C99E-65C0-4BDE-8EF7-1E57BB91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CD1C2-8998-448A-B345-B4719C79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IMPLEMENTATION + AGORA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8DF76-4B10-4868-B7ED-362D48D6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Agora carries the live conversation from voice to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1B400-21A2-4A36-99CA-F2BAAD4F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The cascade architecture keeps tool use, evidence and handoff observable.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61E08-50A4-4846-B926-EEF67DB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1466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D8BED-9F80-4F9C-AFA2-2E1F7277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3A1A7-1A57-4047-A60D-CD2DDC52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6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855C9-0180-40EA-967E-951DDBD0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Buyer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BC252-AD4E-4F0C-B063-4589409A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Next.js · 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F299C-6AA8-4F44-811E-2AF6F04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3162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19050">
            <a:solidFill>
              <a:srgbClr val="85C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3C4B8-B262-4B77-96F5-CF085389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AGORA REAL-TIME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AFA6F-0C64-4B0B-A8DC-8642D68C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RTC + Conversational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A81D1-A7C7-4155-A7E3-D04E1162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8EA"/>
          </a:solidFill>
          <a:ln xmlns:a="http://schemas.openxmlformats.org/drawingml/2006/main" w="0">
            <a:solidFill>
              <a:srgbClr val="08B8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74491-AEF6-4EF9-9794-56809C5F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24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Natural turns + interruption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9FD7D-4E77-4438-B70A-B093A90F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8EA"/>
          </a:solidFill>
          <a:ln xmlns:a="http://schemas.openxmlformats.org/drawingml/2006/main" w="0">
            <a:solidFill>
              <a:srgbClr val="08B8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C7AB9-A76C-44DB-9E3C-6D1CE492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23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RTM live state + transcripts/history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545BE-E377-4C44-9978-F702FAC4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8EA"/>
          </a:solidFill>
          <a:ln xmlns:a="http://schemas.openxmlformats.org/drawingml/2006/main" w="0">
            <a:solidFill>
              <a:srgbClr val="08B8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19404-7C84-4AC3-9554-AFFFF07B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Sarvam ASR/TTS + runtime metrics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961FB-A38A-4AE0-8E43-07BEFC8F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050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0B858-024F-4451-8436-54D0FFD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26B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26BFF"/>
                </a:solidFill>
                <a:latin typeface="Aptos"/>
                <a:ea typeface="Aptos"/>
                <a:cs typeface="Aptos"/>
              </a:rPr>
              <a:t>EASYEV DECISION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6C46B-7F98-411C-BE74-01FCC423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19400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Decision 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83446-B12F-4E1E-88B1-7748021A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1695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what-if calculator</a:t>
            </a:r>
          </a:p>
          <a:p xmlns:a="http://schemas.openxmlformats.org/drawingml/2006/main">
            <a:pPr algn="ctr">
              <a:defRPr sz="10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evidence + policy</a:t>
            </a:r>
          </a:p>
          <a:p xmlns:a="http://schemas.openxmlformats.org/drawingml/2006/main">
            <a:pPr algn="ctr">
              <a:defRPr sz="10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negotiation bounds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EB064-44BA-49CA-95AA-386A5C84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05050"/>
            <a:ext cx="2171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0C4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417E47-C299-4816-A62D-E693D039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146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7A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17A00"/>
                </a:solidFill>
                <a:latin typeface="Aptos"/>
                <a:ea typeface="Aptos"/>
                <a:cs typeface="Aptos"/>
              </a:rPr>
              <a:t>TOOLS + OUTCOMES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21CC99-44A8-44C4-9EED-33CB6B46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FastMCP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38CA7-6A18-4E73-AFBE-AEE2152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5277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catalog · finance</a:t>
            </a:r>
          </a:p>
          <a:p xmlns:a="http://schemas.openxmlformats.org/drawingml/2006/main">
            <a:pPr algn="ctr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charging · booking</a:t>
            </a:r>
          </a:p>
          <a:p xmlns:a="http://schemas.openxmlformats.org/drawingml/2006/main">
            <a:pPr algn="ctr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CRM · human handoff</a:t>
            </a:r>
          </a:p>
        </p:txBody>
      </p:sp>
      <p:cxnSp>
        <p:nvCxnSpPr>
          <p:cNvPr id="88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171700" y="30384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BFF"/>
            </a:solidFill>
            <a:prstDash val="solid"/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16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48350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BFF"/>
            </a:solidFill>
            <a:prstDash val="solid"/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753475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17A00"/>
            </a:solidFill>
            <a:prstDash val="solid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B0AFB8-B134-4A11-B740-8E364100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10363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EEA5B4-D72C-49FC-BE76-ECFD2C69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481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PROPOSED STACK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817407-9DAE-4A5B-942A-9BA4D8D7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EE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65D087-A8A8-4076-BBFF-7E8728F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5CBABA-0F24-4C92-85A4-F7FE07D8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Next.js · TypeScript · React 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FB2427-EE4C-4923-82B0-91C66C7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625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EE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C51200-EEDA-4746-9025-9359181F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101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222984-D30B-4E34-96A5-DE911D5B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24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FastAPI · FastMCP · Pydantic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55B709-C121-4291-9050-B67811F2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EE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FCB181-3462-44E4-8DD3-0155EC27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26F4BA-31CE-46D7-8672-6A4A04CD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24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Supabase/Postgres · optional Graphiti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1D086B-E66A-401F-9A6B-EA93EC26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625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FF7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F77D92-1F3C-4056-ABCA-8764455F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101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7A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7A00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62BD52-29A4-425B-BE10-5E2C0840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24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Langfuse · Promptfoo · Presidio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D192E8-9454-497D-B935-F57493DB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10363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3D"/>
          </a:solidFill>
          <a:ln xmlns:a="http://schemas.openxmlformats.org/drawingml/2006/main" w="9525">
            <a:solidFill>
              <a:srgbClr val="07143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3BB64C-7E00-4270-957C-CC07F051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95950"/>
            <a:ext cx="986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interrupt → preserve context → update decision graph → call verified tool → explain → act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26C010-3112-4793-9D67-47F6C459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76975"/>
            <a:ext cx="69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Echo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A9A030-9491-43C9-AC4E-8184A49F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Sphere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96C9E0-3B2D-4451-AD74-A2EA6EFA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912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POWERED BY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F3E423-A2DF-4435-86C3-F7CCA75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531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KNOTIC</a:t>
            </a:r>
          </a:p>
        </p:txBody>
      </p:sp>
    </p:spTree>
    <p:extLst>
      <p:ext uri="{BB962C8B-B14F-4D97-AF65-F5344CB8AC3E}">
        <p14:creationId xmlns:p14="http://schemas.microsoft.com/office/powerpoint/2010/main" val="2037912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D4394D-4173-4B12-9699-DF9ACA5F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F"/>
          </a:solidFill>
          <a:ln xmlns:a="http://schemas.openxmlformats.org/drawingml/2006/main" w="0">
            <a:solidFill>
              <a:srgbClr val="F4F4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1A644-7D60-49CF-BFAF-47B7933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55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D7D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3193E-1DED-462C-A54E-434429EF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523" y="710565"/>
            <a:ext cx="680085" cy="680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F"/>
          </a:solidFill>
          <a:ln xmlns:a="http://schemas.openxmlformats.org/drawingml/2006/main" w="0">
            <a:solidFill>
              <a:srgbClr val="E5F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B56F3-3E9B-4E41-BBF3-4CD38D63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553" y="940594"/>
            <a:ext cx="440055" cy="440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FF"/>
          </a:solidFill>
          <a:ln xmlns:a="http://schemas.openxmlformats.org/drawingml/2006/main" w="0">
            <a:solidFill>
              <a:srgbClr val="FD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6799D-5E7A-416B-9E66-FE67D93F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0000">
            <a:off x="10597515" y="850583"/>
            <a:ext cx="780098" cy="4300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729D9-DDBF-4813-8EFF-89D7B1AD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rPr>
              <a:t>agora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9852E-5CE0-4931-8023-5716DB3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81FAB-827B-49EC-9142-CDED34CB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CURRENT STATUS + NEXT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0D92A-1796-4533-81B7-9150FA8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We have the direction; now we prove the live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CF9A7-607A-47AF-B4D5-24F08F37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The first milestone is a working Agora conversation that ends in a real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B9E34-5636-4706-A103-FB5A76A9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7338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0B5E1-CF4F-46C7-8D97-7F40EF36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WHERE WE ARE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9A9D0-DC41-4FF5-8694-825739F3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19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B6E7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2A996-60A5-4AD5-8475-140DABAD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4797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A6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A6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DF929-0762-4F0F-AB2A-1312EB43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EasyEV positioning and broad EV scope finalized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D3F69-E43B-41C6-95A2-16E47A9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B6E7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4AA63-6BF0-4F31-882E-D5DB4176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A6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A6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D9F9B-5C5B-44E5-A1DE-17B54443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Demo journey and trust boundaries defined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1EEB8-BD0B-4B82-A58C-AA092D2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B6E7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27F04-E0A4-4D56-935E-5D44AD19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0047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A6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A6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3C755-CDDF-4D4F-B7BB-BC6EFDFB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Agora-first architecture and tool plan complete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4AD77-7335-4F1F-9BF9-E529743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B6E7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0E89B-75B1-48BC-BB5D-C027DE32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767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A6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A67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B8C27-067F-4332-A2A1-5216803D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00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Submitted concept deck available as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7327A-9E66-40DE-8683-F9FA7450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314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9D680-7E50-44EC-904A-9F5E71D0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3086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6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26BFF"/>
                </a:solidFill>
                <a:latin typeface="Aptos"/>
                <a:ea typeface="Aptos"/>
                <a:cs typeface="Aptos"/>
              </a:rPr>
              <a:t>STATUS: PLANNING COMPLETE · BUILD STARTS NOW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FDF7C-A07F-4CB7-A4CA-8D987402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62674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09993-E9BD-4302-860A-5748159E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FOUR IMPLEMENTATION CHECKPOINTS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534D9-6AE7-4C73-9591-B49853A2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90850"/>
            <a:ext cx="12001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19050">
            <a:solidFill>
              <a:srgbClr val="7AC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30BD2-B94C-433D-AFB0-71496EFC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33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9525">
            <a:solidFill>
              <a:srgbClr val="168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89CA8D-3D26-454C-B00C-2B97546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289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7AC82B-323C-4D93-9FA9-58D7D6D7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48075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AGORA VERTICAL SLICE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87064-9C8D-462F-B997-0C2AD9FA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24325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2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live call · interruption · transcript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076BE7-D4E6-43C8-9F0C-808737FC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90850"/>
            <a:ext cx="12001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922B9-8CEA-4FA4-9385-EEE4DB6A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33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4D673-226F-4A7F-9118-02C9E6F5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289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ADCEA3-F39B-474A-80F2-C3E34DC9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48075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DECISION GRAPH + TOOLS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4C7EF9-A4E1-43A3-AABF-C1D7822F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24325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needs update · evidence · what-if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BA5CC9-DE52-498E-AD9D-420C298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12001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B909EC-0774-4EB1-9B20-475B7843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33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EEC6DC-D661-445D-9ACA-91AFE8F5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289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7743EF-4C2C-4657-ABD0-B7C5D001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48075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REAL NEXT ACTION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BCCE93-2B86-4991-BA26-5195110A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24325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booking · CRM brief · human handoff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95D0CD-5A7A-4DCE-B5C2-008295D8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990850"/>
            <a:ext cx="12001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0624F8-FD16-4C61-8597-12AF248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33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FFF"/>
          </a:solidFill>
          <a:ln xmlns:a="http://schemas.openxmlformats.org/drawingml/2006/main" w="9525">
            <a:solidFill>
              <a:srgbClr val="E3E3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E76B7F-DA58-48B7-9DC7-DDDFFF1D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289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E39F50-5AE7-4366-8DC7-E94FBBBE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648075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PROOF + POLISH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23CB02-F90A-455A-A791-687C70B9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24325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2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Hindi/Hinglish · evals · demo rehearsal</a:t>
            </a:r>
          </a:p>
        </p:txBody>
      </p:sp>
      <p:cxnSp>
        <p:nvCxnSpPr>
          <p:cNvPr id="108" name=""/>
          <p:cNvCxnSpPr>
            <a:stCxn xmlns:a="http://schemas.openxmlformats.org/drawingml/2006/main" id="29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438900" y="37909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BFF"/>
            </a:solidFill>
            <a:prstDash val="solid"/>
            <a:tailEnd type="arrow" w="sm" len="sm"/>
          </a:ln>
        </p:spPr>
      </p:cxnSp>
      <p:cxnSp>
        <p:nvCxnSpPr>
          <p:cNvPr id="109" name=""/>
          <p:cNvCxnSpPr>
            <a:stCxn xmlns:a="http://schemas.openxmlformats.org/drawingml/2006/main" id="34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7877175" y="37909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BFF"/>
            </a:solidFill>
            <a:prstDash val="solid"/>
            <a:tailEnd type="arrow" w="sm" len="sm"/>
          </a:ln>
        </p:spPr>
      </p:cxnSp>
      <p:cxnSp>
        <p:nvCxnSpPr>
          <p:cNvPr id="110" name=""/>
          <p:cNvCxnSpPr>
            <a:stCxn xmlns:a="http://schemas.openxmlformats.org/drawingml/2006/main" id="39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15450" y="37909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BFF"/>
            </a:solidFill>
            <a:prstDash val="solid"/>
            <a:tailEnd type="arrow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2C90B5-DB04-4E27-9035-3BC031C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91075"/>
            <a:ext cx="56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26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6BFF"/>
                </a:solidFill>
                <a:latin typeface="Aptos"/>
                <a:ea typeface="Aptos"/>
                <a:cs typeface="Aptos"/>
              </a:rPr>
              <a:t>Immediate goal: one uninterrupted end-to-end call with a stored lead outcome.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A2ECE2-A37F-4606-A22A-E87FC49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3632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0C47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9AEAB1-801B-492E-9CBD-0F868BE5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911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17A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17A00"/>
                </a:solidFill>
                <a:latin typeface="Aptos"/>
                <a:ea typeface="Aptos"/>
                <a:cs typeface="Aptos"/>
              </a:rPr>
              <a:t>MENTOR FEEDBACK TODAY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1D926B-2552-4F83-A2E0-5FEF47D6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62600"/>
            <a:ext cx="784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Scope right?  ·  Which Agora proof should go deepest?  ·  Is Decision Graph + safe learning loop distinctive enough?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5F6E29-8670-4412-B3D3-4E789F34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76975"/>
            <a:ext cx="69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Echo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1EE941-76BF-4462-AA58-EF8544B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Sphere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701F47-D3A8-4937-82D6-71EB0548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912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POWERED BY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A8A7CA-77F9-4BEF-9B46-1F53634A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531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KNOTIC</a:t>
            </a:r>
          </a:p>
        </p:txBody>
      </p:sp>
    </p:spTree>
    <p:extLst>
      <p:ext uri="{BB962C8B-B14F-4D97-AF65-F5344CB8AC3E}">
        <p14:creationId xmlns:p14="http://schemas.microsoft.com/office/powerpoint/2010/main" val="845326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04CA3F-BF24-45CF-92BC-BB396002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F"/>
          </a:solidFill>
          <a:ln xmlns:a="http://schemas.openxmlformats.org/drawingml/2006/main" w="0">
            <a:solidFill>
              <a:srgbClr val="F4F4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9E725-0ABF-491D-9223-BD922CBB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55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D7D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42E03-AF31-4A9E-BB2B-201D3ECB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523" y="710565"/>
            <a:ext cx="680085" cy="680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F"/>
          </a:solidFill>
          <a:ln xmlns:a="http://schemas.openxmlformats.org/drawingml/2006/main" w="0">
            <a:solidFill>
              <a:srgbClr val="E5F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99568-D198-4D23-B138-CBDC0603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553" y="940594"/>
            <a:ext cx="440055" cy="440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FF"/>
          </a:solidFill>
          <a:ln xmlns:a="http://schemas.openxmlformats.org/drawingml/2006/main" w="0">
            <a:solidFill>
              <a:srgbClr val="FD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299D7-92D9-4A6B-BC69-04EABDE5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0000">
            <a:off x="10597515" y="850583"/>
            <a:ext cx="780098" cy="43005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F00C9-CCB2-4AC2-899D-555F08A0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850" b="1">
                <a:solidFill>
                  <a:srgbClr val="08B8EA"/>
                </a:solidFill>
                <a:latin typeface="Arial Rounded MT Bold"/>
                <a:ea typeface="Arial Rounded MT Bold"/>
                <a:cs typeface="Arial Rounded MT Bold"/>
              </a:rPr>
              <a:t>agora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81FCE-4807-4259-AC24-8E805761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E3E61-EA8B-43E8-BEF5-571AF37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TEAM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3DB1B-3C47-4899-A221-8CC0CFE9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Three owners, one integration spine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0BA85-26C5-406A-9A78-030F4FE8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85"/>
                </a:solidFill>
                <a:latin typeface="Aptos"/>
                <a:ea typeface="Aptos"/>
                <a:cs typeface="Aptos"/>
              </a:rPr>
              <a:t>Each member owns a demo-visible outcome; integration happens at shared checkpoints.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7BB41-F206-4740-9EAC-F9EBFDD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2004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5F026-E514-4429-9FDB-6AF761B0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20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9525">
            <a:solidFill>
              <a:srgbClr val="F0F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B034A-1D8D-4647-BCF4-CDAD3E8D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6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6BFF"/>
                </a:solidFill>
                <a:latin typeface="Aptos"/>
                <a:ea typeface="Aptos"/>
                <a:cs typeface="Aptos"/>
              </a:rPr>
              <a:t>SHIVAM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43D26-33DE-4021-8611-442F4CEE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7652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Product, intelligence +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E26C1-FB23-42E4-900F-B576E69B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FF"/>
          </a:solidFill>
          <a:ln xmlns:a="http://schemas.openxmlformats.org/drawingml/2006/main" w="0">
            <a:solidFill>
              <a:srgbClr val="42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70F1B-8E62-45C1-8700-9E77C53E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0992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Conversation + qualification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9634E-0944-4806-BAC8-90DF13A7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FF"/>
          </a:solidFill>
          <a:ln xmlns:a="http://schemas.openxmlformats.org/drawingml/2006/main" w="0">
            <a:solidFill>
              <a:srgbClr val="426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81582-F1B0-45F8-A45E-654D81C2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2427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EV evidence and Decision 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0154B-CCD6-4D22-97BD-51E39C4C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FF"/>
          </a:solidFill>
          <a:ln xmlns:a="http://schemas.openxmlformats.org/drawingml/2006/main" w="0">
            <a:solidFill>
              <a:srgbClr val="426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0C672-20EA-40B0-B6F9-F625B30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Safety, evals, pitch and demo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65DB5-FC1A-4DA6-94F0-87DE5296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0125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F"/>
          </a:solidFill>
          <a:ln xmlns:a="http://schemas.openxmlformats.org/drawingml/2006/main" w="9525">
            <a:solidFill>
              <a:srgbClr val="F0F1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6D011-8EAE-4901-BDA4-B2634B15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6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26BFF"/>
                </a:solidFill>
                <a:latin typeface="Aptos"/>
                <a:ea typeface="Aptos"/>
                <a:cs typeface="Aptos"/>
              </a:rPr>
              <a:t>OUTPUT: trusted recommendation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68356-580D-4A2D-9BA6-949605F9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2004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2E1F8-3BEF-41D4-9462-B85EA698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20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8FF"/>
          </a:solidFill>
          <a:ln xmlns:a="http://schemas.openxmlformats.org/drawingml/2006/main" w="9525">
            <a:solidFill>
              <a:srgbClr val="EDF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7B3D3-3668-4DD7-A788-72DB75A9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28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SATHVIK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A7CAC6-41A5-41CF-94E1-52B5F014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7652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Agora + backend agent 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C33FC-F9C7-4E17-B544-763E03CA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solidFill>
              <a:srgbClr val="168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FA3A6-F518-4154-AC5D-0D2EC74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992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RTC, RTM and Conversational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360BD-CC6C-452A-AEA8-75013999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8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solidFill>
              <a:srgbClr val="16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2EBF5-E28F-4231-8606-66ECCD0C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2427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FastAPI/FastMCP agent lifecycle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F38E5B-0013-4737-B44B-E64EBCBA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FF"/>
          </a:solidFill>
          <a:ln xmlns:a="http://schemas.openxmlformats.org/drawingml/2006/main" w="0">
            <a:solidFill>
              <a:srgbClr val="16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560A06-C65C-4964-BAAE-FC44622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3862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Transcripts, CRM brief and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8261C4-AA53-4AD7-AF23-E79F899F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10125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8FF"/>
          </a:solidFill>
          <a:ln xmlns:a="http://schemas.openxmlformats.org/drawingml/2006/main" w="9525">
            <a:solidFill>
              <a:srgbClr val="EDF8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4ABECD-617F-49B2-AB0D-009D329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OUTPUT: working live voice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B692C7-0328-48E7-B384-79B95978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2004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B23B94-FEE1-4BCD-8438-8FB42BB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20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FF7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9BF084-F480-4C00-8DC7-845A46C3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28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7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17A00"/>
                </a:solidFill>
                <a:latin typeface="Aptos"/>
                <a:ea typeface="Aptos"/>
                <a:cs typeface="Aptos"/>
              </a:rPr>
              <a:t>JATIN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BA7A9B-BD7B-4655-9800-3F8833E5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7652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Frontend + customer experience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2E4858-FDCB-4172-B12A-C0EA3925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7A00"/>
          </a:solidFill>
          <a:ln xmlns:a="http://schemas.openxmlformats.org/drawingml/2006/main" w="0">
            <a:solidFill>
              <a:srgbClr val="E17A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517171-92A3-495D-BF4D-492D20B4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992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Buyer and operator Next.js UI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6CDE78-958B-4074-B7B1-97D05C80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7A00"/>
          </a:solidFill>
          <a:ln xmlns:a="http://schemas.openxmlformats.org/drawingml/2006/main" w="0">
            <a:solidFill>
              <a:srgbClr val="E17A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153D91-C7F0-47ED-B10C-EDBDB7F3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2427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React Flow live Decision Graph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38340C-441C-4ACB-B3FD-5B6FF835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7A00"/>
          </a:solidFill>
          <a:ln xmlns:a="http://schemas.openxmlformats.org/drawingml/2006/main" w="0">
            <a:solidFill>
              <a:srgbClr val="E17A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D29BE0-5BC8-4B88-A875-C79E880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Supabase, booking UX and visual QA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531AB0-8C75-4F0D-AD16-111161A4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0125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FF7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A10E9F-F1A7-47E2-BC57-1098F6C2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95850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17A00"/>
                </a:solidFill>
                <a:latin typeface="Aptos"/>
                <a:ea typeface="Aptos"/>
                <a:cs typeface="Aptos"/>
              </a:rPr>
              <a:t>OUTPUT: judge-visible product experience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EC79EF-5F39-4EAA-B438-3787BE7B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1036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43D"/>
          </a:solidFill>
          <a:ln xmlns:a="http://schemas.openxmlformats.org/drawingml/2006/main" w="9525">
            <a:solidFill>
              <a:srgbClr val="0714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C84710-87E1-48D7-9860-4352D169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483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C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C8FF"/>
                </a:solidFill>
                <a:latin typeface="Aptos"/>
                <a:ea typeface="Aptos"/>
                <a:cs typeface="Aptos"/>
              </a:rPr>
              <a:t>SHARED CHECKPOINTS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F467E7-48D8-4AFF-8B57-3B9C3A5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29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 First live call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7E9AD6-89E6-4522-9208-459EA92B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292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 End-to-end scenario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8D4AE2-685E-4F8A-9A3F-0889A81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292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 Final judge rehearsal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BCF646-0E89-4836-BEF8-3EB818B7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76975"/>
            <a:ext cx="695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4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143D"/>
                </a:solidFill>
                <a:latin typeface="Aptos"/>
                <a:ea typeface="Aptos"/>
                <a:cs typeface="Aptos"/>
              </a:rPr>
              <a:t>Echo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17B341-CBA8-4C43-A38C-8A9F1345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Sphere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ED5983-F7DA-4DBC-BD51-88D02BC9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912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D294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D2948"/>
                </a:solidFill>
                <a:latin typeface="Aptos"/>
                <a:ea typeface="Aptos"/>
                <a:cs typeface="Aptos"/>
              </a:rPr>
              <a:t>POWERED BY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C5E5D4-D343-4F83-B2AD-A2653A41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531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8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FF"/>
                </a:solidFill>
                <a:latin typeface="Aptos"/>
                <a:ea typeface="Aptos"/>
                <a:cs typeface="Aptos"/>
              </a:rPr>
              <a:t>KNOTIC</a:t>
            </a:r>
          </a:p>
        </p:txBody>
      </p:sp>
    </p:spTree>
    <p:extLst>
      <p:ext uri="{BB962C8B-B14F-4D97-AF65-F5344CB8AC3E}">
        <p14:creationId xmlns:p14="http://schemas.microsoft.com/office/powerpoint/2010/main" val="1597096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2026-08-31T16:24:38.4760000Z</dcterms:created>
  <dcterms:modified xsi:type="dcterms:W3CDTF">2026-08-31T16:24:38.4760000Z</dcterms:modified>
</coreProperties>
</file>